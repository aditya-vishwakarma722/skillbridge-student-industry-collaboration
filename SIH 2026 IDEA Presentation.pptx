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364640" y="2809199"/>
            <a:ext cx="3099774" cy="331529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u="sng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u="sng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7" y="1376245"/>
            <a:ext cx="11605074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</a:t>
            </a:r>
            <a:r>
              <a:rPr lang="en-US" sz="2400" dirty="0"/>
              <a:t>26044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 Portal for Academic &amp; Industry Collaboration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130713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SkillSync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387B31-ED4A-77FE-57F5-BCA4A2D5D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38422"/>
            <a:ext cx="12192000" cy="5517931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2870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81049"/>
            <a:ext cx="1400704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SkillSync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1920301" cy="906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5092E-E665-FA33-7BA6-1DB9C447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5" y="931437"/>
            <a:ext cx="10835148" cy="534416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81049"/>
            <a:ext cx="1390872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SkillSync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96208" y="578062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06808" y="578062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8257" y="281049"/>
            <a:ext cx="1381040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SkillSync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1">
            <a:extLst>
              <a:ext uri="{FF2B5EF4-FFF2-40B4-BE49-F238E27FC236}">
                <a16:creationId xmlns:a16="http://schemas.microsoft.com/office/drawing/2014/main" id="{931D6E97-4DA5-EB70-9D94-1BB59D293D3B}"/>
              </a:ext>
            </a:extLst>
          </p:cNvPr>
          <p:cNvSpPr txBox="1"/>
          <p:nvPr/>
        </p:nvSpPr>
        <p:spPr>
          <a:xfrm>
            <a:off x="1108390" y="1235381"/>
            <a:ext cx="1754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FD00DBB5-A112-9809-34BE-F9E16BE70B94}"/>
              </a:ext>
            </a:extLst>
          </p:cNvPr>
          <p:cNvSpPr txBox="1"/>
          <p:nvPr/>
        </p:nvSpPr>
        <p:spPr>
          <a:xfrm>
            <a:off x="5085065" y="1242990"/>
            <a:ext cx="1955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9662247D-B7A7-C034-3E68-78E1FDA68EF2}"/>
              </a:ext>
            </a:extLst>
          </p:cNvPr>
          <p:cNvSpPr txBox="1"/>
          <p:nvPr/>
        </p:nvSpPr>
        <p:spPr>
          <a:xfrm>
            <a:off x="9215059" y="1225618"/>
            <a:ext cx="1807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3CA386-0BDE-2494-CBB3-F9BE51D655E0}"/>
              </a:ext>
            </a:extLst>
          </p:cNvPr>
          <p:cNvCxnSpPr/>
          <p:nvPr/>
        </p:nvCxnSpPr>
        <p:spPr>
          <a:xfrm>
            <a:off x="4157273" y="1793428"/>
            <a:ext cx="0" cy="43644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FF84D6-47C2-3AE1-440F-4A3DE25F5B61}"/>
              </a:ext>
            </a:extLst>
          </p:cNvPr>
          <p:cNvCxnSpPr/>
          <p:nvPr/>
        </p:nvCxnSpPr>
        <p:spPr>
          <a:xfrm>
            <a:off x="8055763" y="1625728"/>
            <a:ext cx="0" cy="43644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7BC59E1F-762B-9356-4BEC-5A1E85AC126C}"/>
              </a:ext>
            </a:extLst>
          </p:cNvPr>
          <p:cNvSpPr/>
          <p:nvPr/>
        </p:nvSpPr>
        <p:spPr>
          <a:xfrm>
            <a:off x="178257" y="2104870"/>
            <a:ext cx="432816" cy="64991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7361A044-DDE0-FE8E-07C3-5CE92C38381F}"/>
              </a:ext>
            </a:extLst>
          </p:cNvPr>
          <p:cNvSpPr/>
          <p:nvPr/>
        </p:nvSpPr>
        <p:spPr>
          <a:xfrm>
            <a:off x="178257" y="3111228"/>
            <a:ext cx="432816" cy="64991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5A214D63-4933-D90A-78F8-77AE66FC740D}"/>
              </a:ext>
            </a:extLst>
          </p:cNvPr>
          <p:cNvSpPr/>
          <p:nvPr/>
        </p:nvSpPr>
        <p:spPr>
          <a:xfrm>
            <a:off x="178257" y="4142127"/>
            <a:ext cx="432816" cy="64991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3FC7CAF-AC7F-681C-60CF-4142723F507E}"/>
              </a:ext>
            </a:extLst>
          </p:cNvPr>
          <p:cNvSpPr/>
          <p:nvPr/>
        </p:nvSpPr>
        <p:spPr>
          <a:xfrm>
            <a:off x="178257" y="5173027"/>
            <a:ext cx="432816" cy="64991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278B1A-7911-8472-CDA8-988CDE9AD7D1}"/>
              </a:ext>
            </a:extLst>
          </p:cNvPr>
          <p:cNvSpPr/>
          <p:nvPr/>
        </p:nvSpPr>
        <p:spPr>
          <a:xfrm>
            <a:off x="688093" y="2104870"/>
            <a:ext cx="3216685" cy="7597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1400" b="1">
                <a:solidFill>
                  <a:schemeClr val="tx1"/>
                </a:solidFill>
              </a:rPr>
              <a:t>Digital Platform:</a:t>
            </a:r>
            <a:r>
              <a:rPr lang="en-IN" sz="1400">
                <a:solidFill>
                  <a:schemeClr val="tx1"/>
                </a:solidFill>
              </a:rPr>
              <a:t> Easy-to-use web portal connecting students, colleges and industries.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52724-E190-4098-512C-0823C150B46F}"/>
              </a:ext>
            </a:extLst>
          </p:cNvPr>
          <p:cNvSpPr/>
          <p:nvPr/>
        </p:nvSpPr>
        <p:spPr>
          <a:xfrm>
            <a:off x="688093" y="4142127"/>
            <a:ext cx="3216665" cy="88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Scalable System:</a:t>
            </a:r>
            <a:r>
              <a:rPr lang="en-IN" sz="1400">
                <a:solidFill>
                  <a:schemeClr val="tx1">
                    <a:lumMod val="95000"/>
                    <a:lumOff val="5000"/>
                  </a:schemeClr>
                </a:solidFill>
              </a:rPr>
              <a:t> Cloud-based platform that can support multiple institutions and companies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F02816-CCC0-0555-F772-2401A5054E9F}"/>
              </a:ext>
            </a:extLst>
          </p:cNvPr>
          <p:cNvSpPr/>
          <p:nvPr/>
        </p:nvSpPr>
        <p:spPr>
          <a:xfrm>
            <a:off x="688092" y="5173027"/>
            <a:ext cx="3216654" cy="864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>
                <a:solidFill>
                  <a:schemeClr val="tx1"/>
                </a:solidFill>
              </a:rPr>
              <a:t>Low-Cost Deployment:</a:t>
            </a:r>
            <a:r>
              <a:rPr lang="en-IN" sz="1400">
                <a:solidFill>
                  <a:schemeClr val="tx1"/>
                </a:solidFill>
              </a:rPr>
              <a:t> Uses existing digital infrastructure with minimal setup and maintenance. </a:t>
            </a:r>
          </a:p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002440-3A32-ECEC-8FEF-CEBA4BB96EEE}"/>
              </a:ext>
            </a:extLst>
          </p:cNvPr>
          <p:cNvSpPr/>
          <p:nvPr/>
        </p:nvSpPr>
        <p:spPr>
          <a:xfrm>
            <a:off x="688092" y="3031740"/>
            <a:ext cx="3216650" cy="864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>
                <a:solidFill>
                  <a:schemeClr val="tx1"/>
                </a:solidFill>
              </a:rPr>
              <a:t>Skill-Based Matching:</a:t>
            </a:r>
            <a:r>
              <a:rPr lang="en-IN" sz="1400">
                <a:solidFill>
                  <a:schemeClr val="tx1"/>
                </a:solidFill>
              </a:rPr>
              <a:t> Match students with suitable internships, projects and job opportunities</a:t>
            </a:r>
          </a:p>
        </p:txBody>
      </p:sp>
      <p:sp>
        <p:nvSpPr>
          <p:cNvPr id="21" name="TextBox 53">
            <a:extLst>
              <a:ext uri="{FF2B5EF4-FFF2-40B4-BE49-F238E27FC236}">
                <a16:creationId xmlns:a16="http://schemas.microsoft.com/office/drawing/2014/main" id="{5C63B1AB-57C5-5EA2-9B61-18B1B4495052}"/>
              </a:ext>
            </a:extLst>
          </p:cNvPr>
          <p:cNvSpPr txBox="1"/>
          <p:nvPr/>
        </p:nvSpPr>
        <p:spPr>
          <a:xfrm>
            <a:off x="4350775" y="2104870"/>
            <a:ext cx="3490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🎓 </a:t>
            </a:r>
            <a:r>
              <a:rPr lang="en-IN" b="1"/>
              <a:t>Industry Participation</a:t>
            </a:r>
            <a:br>
              <a:rPr lang="en-IN"/>
            </a:br>
            <a:r>
              <a:rPr lang="en-IN"/>
              <a:t>Difficulty in getting companies actively involved.</a:t>
            </a:r>
          </a:p>
        </p:txBody>
      </p:sp>
      <p:sp>
        <p:nvSpPr>
          <p:cNvPr id="22" name="TextBox 54">
            <a:extLst>
              <a:ext uri="{FF2B5EF4-FFF2-40B4-BE49-F238E27FC236}">
                <a16:creationId xmlns:a16="http://schemas.microsoft.com/office/drawing/2014/main" id="{2C8B71BB-06F7-C554-CA7E-1B0122371C1B}"/>
              </a:ext>
            </a:extLst>
          </p:cNvPr>
          <p:cNvSpPr txBox="1"/>
          <p:nvPr/>
        </p:nvSpPr>
        <p:spPr>
          <a:xfrm>
            <a:off x="4509562" y="3041532"/>
            <a:ext cx="310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🔄 </a:t>
            </a:r>
            <a:r>
              <a:rPr lang="en-IN" b="1"/>
              <a:t>Skill Gap</a:t>
            </a:r>
            <a:br>
              <a:rPr lang="en-IN"/>
            </a:br>
            <a:r>
              <a:rPr lang="en-IN"/>
              <a:t>Mismatch between student skills and industry needs.</a:t>
            </a:r>
          </a:p>
        </p:txBody>
      </p:sp>
      <p:sp>
        <p:nvSpPr>
          <p:cNvPr id="23" name="TextBox 55">
            <a:extLst>
              <a:ext uri="{FF2B5EF4-FFF2-40B4-BE49-F238E27FC236}">
                <a16:creationId xmlns:a16="http://schemas.microsoft.com/office/drawing/2014/main" id="{C1C9E0C9-25F5-C488-8529-7A4E5ECEF67A}"/>
              </a:ext>
            </a:extLst>
          </p:cNvPr>
          <p:cNvSpPr txBox="1"/>
          <p:nvPr/>
        </p:nvSpPr>
        <p:spPr>
          <a:xfrm>
            <a:off x="4409769" y="4104360"/>
            <a:ext cx="3257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🔒 </a:t>
            </a:r>
            <a:r>
              <a:rPr lang="en-IN" b="1"/>
              <a:t>Data Privacy</a:t>
            </a:r>
            <a:br>
              <a:rPr lang="en-IN"/>
            </a:br>
            <a:r>
              <a:rPr lang="en-IN"/>
              <a:t>Protecting student and company information.</a:t>
            </a:r>
          </a:p>
        </p:txBody>
      </p:sp>
      <p:sp>
        <p:nvSpPr>
          <p:cNvPr id="24" name="TextBox 56">
            <a:extLst>
              <a:ext uri="{FF2B5EF4-FFF2-40B4-BE49-F238E27FC236}">
                <a16:creationId xmlns:a16="http://schemas.microsoft.com/office/drawing/2014/main" id="{D169AE73-42D8-ABAE-B422-2E4104A2FE31}"/>
              </a:ext>
            </a:extLst>
          </p:cNvPr>
          <p:cNvSpPr txBox="1"/>
          <p:nvPr/>
        </p:nvSpPr>
        <p:spPr>
          <a:xfrm>
            <a:off x="4387581" y="4957519"/>
            <a:ext cx="3453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🤝 </a:t>
            </a:r>
            <a:r>
              <a:rPr lang="en-IN" b="1"/>
              <a:t>Coordination</a:t>
            </a:r>
            <a:br>
              <a:rPr lang="en-IN"/>
            </a:br>
            <a:r>
              <a:rPr lang="en-IN"/>
              <a:t>Managing communication between students, colleges &amp; industries</a:t>
            </a:r>
          </a:p>
        </p:txBody>
      </p:sp>
      <p:sp>
        <p:nvSpPr>
          <p:cNvPr id="25" name="TextBox 57">
            <a:extLst>
              <a:ext uri="{FF2B5EF4-FFF2-40B4-BE49-F238E27FC236}">
                <a16:creationId xmlns:a16="http://schemas.microsoft.com/office/drawing/2014/main" id="{242447EA-F2B9-55D4-72CA-9DFAFC065EE7}"/>
              </a:ext>
            </a:extLst>
          </p:cNvPr>
          <p:cNvSpPr txBox="1"/>
          <p:nvPr/>
        </p:nvSpPr>
        <p:spPr>
          <a:xfrm>
            <a:off x="8280433" y="1990802"/>
            <a:ext cx="3497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🎯 </a:t>
            </a:r>
            <a:r>
              <a:rPr lang="en-IN" b="1"/>
              <a:t>Skill-Based Matching</a:t>
            </a:r>
            <a:br>
              <a:rPr lang="en-IN"/>
            </a:br>
            <a:r>
              <a:rPr lang="en-IN"/>
              <a:t>Match students with opportunities based on verified skills.</a:t>
            </a:r>
          </a:p>
        </p:txBody>
      </p:sp>
      <p:sp>
        <p:nvSpPr>
          <p:cNvPr id="26" name="TextBox 58">
            <a:extLst>
              <a:ext uri="{FF2B5EF4-FFF2-40B4-BE49-F238E27FC236}">
                <a16:creationId xmlns:a16="http://schemas.microsoft.com/office/drawing/2014/main" id="{21CAB210-BBEA-D8B7-F147-DABB769374D8}"/>
              </a:ext>
            </a:extLst>
          </p:cNvPr>
          <p:cNvSpPr txBox="1"/>
          <p:nvPr/>
        </p:nvSpPr>
        <p:spPr>
          <a:xfrm>
            <a:off x="8299801" y="3056396"/>
            <a:ext cx="3324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🏢 </a:t>
            </a:r>
            <a:r>
              <a:rPr lang="en-IN" b="1"/>
              <a:t>Industry Partnerships</a:t>
            </a:r>
            <a:br>
              <a:rPr lang="en-IN"/>
            </a:br>
            <a:r>
              <a:rPr lang="en-IN"/>
              <a:t>Build strong partnerships with verified companies.</a:t>
            </a:r>
          </a:p>
        </p:txBody>
      </p:sp>
      <p:sp>
        <p:nvSpPr>
          <p:cNvPr id="27" name="TextBox 59">
            <a:extLst>
              <a:ext uri="{FF2B5EF4-FFF2-40B4-BE49-F238E27FC236}">
                <a16:creationId xmlns:a16="http://schemas.microsoft.com/office/drawing/2014/main" id="{30C4756E-B48A-9570-FE95-475D07C4ED1D}"/>
              </a:ext>
            </a:extLst>
          </p:cNvPr>
          <p:cNvSpPr txBox="1"/>
          <p:nvPr/>
        </p:nvSpPr>
        <p:spPr>
          <a:xfrm>
            <a:off x="8280433" y="3984743"/>
            <a:ext cx="3567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📚 </a:t>
            </a:r>
            <a:r>
              <a:rPr lang="en-IN" b="1"/>
              <a:t>Industry Training</a:t>
            </a:r>
            <a:br>
              <a:rPr lang="en-IN"/>
            </a:br>
            <a:r>
              <a:rPr lang="en-IN"/>
              <a:t>Conduct workshops and mentorship programs with industry experts.</a:t>
            </a:r>
          </a:p>
          <a:p>
            <a:endParaRPr lang="en-IN"/>
          </a:p>
        </p:txBody>
      </p:sp>
      <p:sp>
        <p:nvSpPr>
          <p:cNvPr id="28" name="TextBox 60">
            <a:extLst>
              <a:ext uri="{FF2B5EF4-FFF2-40B4-BE49-F238E27FC236}">
                <a16:creationId xmlns:a16="http://schemas.microsoft.com/office/drawing/2014/main" id="{E1FB1B5A-29A5-2A0C-FEBF-870148A2881B}"/>
              </a:ext>
            </a:extLst>
          </p:cNvPr>
          <p:cNvSpPr txBox="1"/>
          <p:nvPr/>
        </p:nvSpPr>
        <p:spPr>
          <a:xfrm>
            <a:off x="8299801" y="5050337"/>
            <a:ext cx="3506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📊 </a:t>
            </a:r>
            <a:r>
              <a:rPr lang="en-IN" b="1"/>
              <a:t>Continuous Feedback</a:t>
            </a:r>
            <a:br>
              <a:rPr lang="en-IN"/>
            </a:br>
            <a:r>
              <a:rPr lang="en-IN"/>
              <a:t>Use feedback to improve skills, courses and opportunities.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D5F42D-C390-F920-C3C1-993A1D099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Footer Placeholder 6">
            <a:extLst>
              <a:ext uri="{FF2B5EF4-FFF2-40B4-BE49-F238E27FC236}">
                <a16:creationId xmlns:a16="http://schemas.microsoft.com/office/drawing/2014/main" id="{B871FC64-F7CC-2619-0F89-4FE6F6CCC571}"/>
              </a:ext>
            </a:extLst>
          </p:cNvPr>
          <p:cNvSpPr txBox="1">
            <a:spLocks/>
          </p:cNvSpPr>
          <p:nvPr/>
        </p:nvSpPr>
        <p:spPr>
          <a:xfrm>
            <a:off x="4493999" y="6407848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2E428E0-E84F-B409-D532-3B3C77E6CA50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80143"/>
            <a:ext cx="1420369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SkillSync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BB0004-A713-BDAE-673C-4CCEC343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08" y="1144500"/>
            <a:ext cx="3799382" cy="35373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F8249A-4401-3183-ED02-3D02EA4B8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77" y="895894"/>
            <a:ext cx="3490453" cy="398698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3788B-F1C7-B884-FEB8-34901A5FD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770" y="850691"/>
            <a:ext cx="3490453" cy="4006646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5FBA6B5-70ED-09D8-97A6-075E2D1EDC22}"/>
              </a:ext>
            </a:extLst>
          </p:cNvPr>
          <p:cNvSpPr/>
          <p:nvPr/>
        </p:nvSpPr>
        <p:spPr>
          <a:xfrm>
            <a:off x="376833" y="4865530"/>
            <a:ext cx="3690342" cy="13912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solidFill>
                  <a:schemeClr val="tx1"/>
                </a:solidFill>
              </a:rPr>
              <a:t>🧑‍🎓 </a:t>
            </a:r>
            <a:r>
              <a:rPr lang="en-IN" sz="1600" b="1" dirty="0">
                <a:solidFill>
                  <a:schemeClr val="tx1"/>
                </a:solidFill>
              </a:rPr>
              <a:t>For Students</a:t>
            </a:r>
            <a:endParaRPr lang="en-IN" sz="1600" dirty="0">
              <a:solidFill>
                <a:schemeClr val="tx1"/>
              </a:solidFill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Get </a:t>
            </a:r>
            <a:r>
              <a:rPr lang="en-IN" sz="1600" b="1" dirty="0">
                <a:solidFill>
                  <a:schemeClr val="tx1"/>
                </a:solidFill>
              </a:rPr>
              <a:t>industry-relevant internships, projects, and jobs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Develop practical, job-ready skills.</a:t>
            </a:r>
          </a:p>
          <a:p>
            <a:pPr lvl="0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1E06DB-5A91-9E94-BFEB-D8BF84A8BAEB}"/>
              </a:ext>
            </a:extLst>
          </p:cNvPr>
          <p:cNvSpPr/>
          <p:nvPr/>
        </p:nvSpPr>
        <p:spPr>
          <a:xfrm>
            <a:off x="4341297" y="4882876"/>
            <a:ext cx="3603524" cy="13912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solidFill>
                  <a:schemeClr val="tx1"/>
                </a:solidFill>
              </a:rPr>
              <a:t>🏢 </a:t>
            </a:r>
            <a:r>
              <a:rPr lang="en-IN" sz="1600" b="1" dirty="0">
                <a:solidFill>
                  <a:schemeClr val="tx1"/>
                </a:solidFill>
              </a:rPr>
              <a:t>For Industries</a:t>
            </a:r>
            <a:endParaRPr lang="en-IN" sz="1600" dirty="0">
              <a:solidFill>
                <a:schemeClr val="tx1"/>
              </a:solidFill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Access </a:t>
            </a:r>
            <a:r>
              <a:rPr lang="en-IN" sz="1600" b="1" dirty="0">
                <a:solidFill>
                  <a:schemeClr val="tx1"/>
                </a:solidFill>
              </a:rPr>
              <a:t>verified and skilled student talent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Reduce hiring and training time.</a:t>
            </a:r>
            <a:endParaRPr lang="en-IN" sz="1400" dirty="0">
              <a:solidFill>
                <a:schemeClr val="tx1"/>
              </a:solidFill>
            </a:endParaRPr>
          </a:p>
          <a:p>
            <a:pPr lvl="0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9D7E6FE-C86C-1633-F939-5F372ACB3F9A}"/>
              </a:ext>
            </a:extLst>
          </p:cNvPr>
          <p:cNvSpPr/>
          <p:nvPr/>
        </p:nvSpPr>
        <p:spPr>
          <a:xfrm>
            <a:off x="8289785" y="4891271"/>
            <a:ext cx="3603524" cy="13912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🤝 </a:t>
            </a:r>
            <a:r>
              <a:rPr lang="en-IN" sz="1600" b="1" dirty="0">
                <a:solidFill>
                  <a:schemeClr val="tx1"/>
                </a:solidFill>
              </a:rPr>
              <a:t>For Academia</a:t>
            </a:r>
            <a:endParaRPr lang="en-IN" sz="1600" dirty="0">
              <a:solidFill>
                <a:schemeClr val="tx1"/>
              </a:solidFill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Strengthen </a:t>
            </a:r>
            <a:r>
              <a:rPr lang="en-IN" sz="1600" b="1" dirty="0">
                <a:solidFill>
                  <a:schemeClr val="tx1"/>
                </a:solidFill>
              </a:rPr>
              <a:t>industry connections and collaboration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Improve placement outcomes through real-world learning.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1935137" cy="9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322291"/>
            <a:ext cx="1390872" cy="48364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SkillSync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037896" cy="962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AEACCE-0A5A-26B9-387C-82026C1A087D}"/>
              </a:ext>
            </a:extLst>
          </p:cNvPr>
          <p:cNvSpPr txBox="1"/>
          <p:nvPr/>
        </p:nvSpPr>
        <p:spPr>
          <a:xfrm>
            <a:off x="1021079" y="1144907"/>
            <a:ext cx="5074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20" b="1">
                <a:solidFill>
                  <a:srgbClr val="0F0F0F"/>
                </a:solidFill>
                <a:latin typeface="Arial"/>
              </a:defRPr>
            </a:pPr>
            <a:r>
              <a:rPr sz="2000" dirty="0"/>
              <a:t>1. INDUSTRY &amp; SKILL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4C0E8-4828-4EA6-AC18-B6380081F465}"/>
              </a:ext>
            </a:extLst>
          </p:cNvPr>
          <p:cNvSpPr txBox="1"/>
          <p:nvPr/>
        </p:nvSpPr>
        <p:spPr>
          <a:xfrm>
            <a:off x="6608064" y="1144907"/>
            <a:ext cx="5209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20" b="1">
                <a:solidFill>
                  <a:srgbClr val="0F0F0F"/>
                </a:solidFill>
                <a:latin typeface="Arial"/>
              </a:defRPr>
            </a:pPr>
            <a:r>
              <a:rPr sz="2000" dirty="0"/>
              <a:t>2. ACADEMIA &amp; PRACTICAL EXPOSURE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61F22-DEC1-8BF6-09C1-E3DD0CAD2CAD}"/>
              </a:ext>
            </a:extLst>
          </p:cNvPr>
          <p:cNvSpPr txBox="1"/>
          <p:nvPr/>
        </p:nvSpPr>
        <p:spPr>
          <a:xfrm>
            <a:off x="963069" y="1843789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3572-1EAA-2E3E-4DCA-978766E3DDA8}"/>
              </a:ext>
            </a:extLst>
          </p:cNvPr>
          <p:cNvSpPr txBox="1"/>
          <p:nvPr/>
        </p:nvSpPr>
        <p:spPr>
          <a:xfrm>
            <a:off x="1164237" y="1872327"/>
            <a:ext cx="493776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World Economic Forum — Future of Jobs Report 2025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Changing jobs, skills and workforce requirements.</a:t>
            </a:r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weforum.org/publications/the-future-of-jobs-report-2025/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FDE9B-8707-CAA2-B5CC-B29F5DC9C8F0}"/>
              </a:ext>
            </a:extLst>
          </p:cNvPr>
          <p:cNvSpPr txBox="1"/>
          <p:nvPr/>
        </p:nvSpPr>
        <p:spPr>
          <a:xfrm>
            <a:off x="963069" y="3012981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56E56-DAB6-B52F-13ED-6DBC58C5A390}"/>
              </a:ext>
            </a:extLst>
          </p:cNvPr>
          <p:cNvSpPr txBox="1"/>
          <p:nvPr/>
        </p:nvSpPr>
        <p:spPr>
          <a:xfrm>
            <a:off x="1158239" y="3069024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NSDC — National Occupational Standards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Industry-aligned job roles, skills and assessment standards.</a:t>
            </a:r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nsdcindia.org/national-occupational-standards-and-model-curriculum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6472D3-823B-E26B-7FC5-95BE9DB9B5E8}"/>
              </a:ext>
            </a:extLst>
          </p:cNvPr>
          <p:cNvSpPr txBox="1"/>
          <p:nvPr/>
        </p:nvSpPr>
        <p:spPr>
          <a:xfrm>
            <a:off x="963069" y="4479480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CA797-E964-7C08-D7BD-300E13548746}"/>
              </a:ext>
            </a:extLst>
          </p:cNvPr>
          <p:cNvSpPr txBox="1"/>
          <p:nvPr/>
        </p:nvSpPr>
        <p:spPr>
          <a:xfrm>
            <a:off x="1168906" y="4496756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Skill India Digital Hub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Skills, courses, assessments and employment recommendations.</a:t>
            </a:r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skillindiadigital.gov.in/about-us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3E1E8F-209D-C925-2E80-83B015A93CD5}"/>
              </a:ext>
            </a:extLst>
          </p:cNvPr>
          <p:cNvSpPr txBox="1"/>
          <p:nvPr/>
        </p:nvSpPr>
        <p:spPr>
          <a:xfrm>
            <a:off x="6507480" y="1824358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A8D057-8A93-F4C8-FEEA-F17C9FD73A7C}"/>
              </a:ext>
            </a:extLst>
          </p:cNvPr>
          <p:cNvSpPr txBox="1"/>
          <p:nvPr/>
        </p:nvSpPr>
        <p:spPr>
          <a:xfrm>
            <a:off x="6708648" y="1870681"/>
            <a:ext cx="484632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UGC — Internship / Research Internship Guidelines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Structured internships and practical industry exposure.</a:t>
            </a:r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ugc.gov.in/e-book/</a:t>
            </a:r>
            <a:r>
              <a:rPr sz="1400" dirty="0" err="1"/>
              <a:t>ResearchInternship</a:t>
            </a:r>
            <a:r>
              <a:rPr sz="1400" dirty="0"/>
              <a:t>/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73B030-C4FB-495D-1685-F3B7075D49C9}"/>
              </a:ext>
            </a:extLst>
          </p:cNvPr>
          <p:cNvSpPr txBox="1"/>
          <p:nvPr/>
        </p:nvSpPr>
        <p:spPr>
          <a:xfrm>
            <a:off x="6510528" y="3013239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F0206-32FF-5B8C-8074-6B8B50534561}"/>
              </a:ext>
            </a:extLst>
          </p:cNvPr>
          <p:cNvSpPr txBox="1"/>
          <p:nvPr/>
        </p:nvSpPr>
        <p:spPr>
          <a:xfrm>
            <a:off x="6711696" y="3053256"/>
            <a:ext cx="484632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UGC — University–Industry Linkage Guidelines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Framework for stronger university–industry collaboration.</a:t>
            </a:r>
            <a:r>
              <a:rPr lang="en-US" sz="1400" dirty="0"/>
              <a:t> Helping in understanding the relations among them</a:t>
            </a:r>
            <a:endParaRPr sz="1400" dirty="0"/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ugc.gov.in/Guideline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D1C94-B296-FFC2-DA22-71BF5B928288}"/>
              </a:ext>
            </a:extLst>
          </p:cNvPr>
          <p:cNvSpPr txBox="1"/>
          <p:nvPr/>
        </p:nvSpPr>
        <p:spPr>
          <a:xfrm>
            <a:off x="6507480" y="4483854"/>
            <a:ext cx="201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0F0F"/>
                </a:solidFill>
                <a:latin typeface="Arial"/>
              </a:defRPr>
            </a:pPr>
            <a:r>
              <a:rPr sz="2000" dirty="0"/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18F349-8F87-BFD6-D9CA-6CD19B03C0B0}"/>
              </a:ext>
            </a:extLst>
          </p:cNvPr>
          <p:cNvSpPr txBox="1"/>
          <p:nvPr/>
        </p:nvSpPr>
        <p:spPr>
          <a:xfrm>
            <a:off x="6736080" y="4537329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0F0F"/>
                </a:solidFill>
                <a:latin typeface="Arial"/>
              </a:defRPr>
            </a:pPr>
            <a:r>
              <a:rPr sz="1400" dirty="0"/>
              <a:t>National Education Policy 2020</a:t>
            </a:r>
          </a:p>
          <a:p>
            <a:pPr>
              <a:spcAft>
                <a:spcPts val="100"/>
              </a:spcAft>
              <a:defRPr sz="880">
                <a:solidFill>
                  <a:srgbClr val="0F0F0F"/>
                </a:solidFill>
                <a:latin typeface="Arial"/>
              </a:defRPr>
            </a:pPr>
            <a:r>
              <a:rPr sz="1400" dirty="0"/>
              <a:t>Promotes practical learning, skilling and industry–academia linkage.</a:t>
            </a:r>
          </a:p>
          <a:p>
            <a:pPr>
              <a:defRPr sz="760" u="sng">
                <a:solidFill>
                  <a:srgbClr val="0000EE"/>
                </a:solidFill>
                <a:latin typeface="Arial"/>
              </a:defRPr>
            </a:pPr>
            <a:r>
              <a:rPr sz="1400" dirty="0"/>
              <a:t>🔗  education.gov.in/nep/about-nep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AAEB31-419B-A8A9-02F6-A96C0A610606}"/>
              </a:ext>
            </a:extLst>
          </p:cNvPr>
          <p:cNvSpPr txBox="1"/>
          <p:nvPr/>
        </p:nvSpPr>
        <p:spPr>
          <a:xfrm>
            <a:off x="1010412" y="5835187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414141"/>
                </a:solidFill>
                <a:latin typeface="Arial"/>
              </a:defRPr>
            </a:pPr>
            <a:r>
              <a:t>Research basis:  Industry skill demand  •  Skill assessment  •  Practical exposure  •  Academia–industry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7590</TotalTime>
  <Words>475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Mr. Psyko</cp:lastModifiedBy>
  <cp:revision>166</cp:revision>
  <dcterms:created xsi:type="dcterms:W3CDTF">2013-12-12T18:46:50Z</dcterms:created>
  <dcterms:modified xsi:type="dcterms:W3CDTF">2026-09-12T12:06:37Z</dcterms:modified>
  <cp:category/>
</cp:coreProperties>
</file>